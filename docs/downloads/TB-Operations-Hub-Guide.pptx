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035654cfbe413e" /><Relationship Type="http://schemas.openxmlformats.org/officeDocument/2006/relationships/extended-properties" Target="/docProps/app.xml" Id="R7e3001d4abf347bf" /><Relationship Type="http://schemas.openxmlformats.org/officeDocument/2006/relationships/officeDocument" Target="/ppt/presentation.xml" Id="R654355ed5ef44a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30f6416cec4804"/>
  </p:sldMasterIdLst>
  <p:notesMasterIdLst>
    <p:notesMasterId xmlns:r="http://schemas.openxmlformats.org/officeDocument/2006/relationships" r:id="R89f869ccef25445b"/>
  </p:notesMasterIdLst>
  <p:sldIdLst>
    <p:sldId xmlns:r="http://schemas.openxmlformats.org/officeDocument/2006/relationships" id="256" r:id="Ra14476261ae0405c"/>
    <p:sldId xmlns:r="http://schemas.openxmlformats.org/officeDocument/2006/relationships" id="257" r:id="R6cf4b4367812484d"/>
    <p:sldId xmlns:r="http://schemas.openxmlformats.org/officeDocument/2006/relationships" id="258" r:id="R01886e16c4bb40d1"/>
    <p:sldId xmlns:r="http://schemas.openxmlformats.org/officeDocument/2006/relationships" id="259" r:id="R42a6cc26c9004243"/>
    <p:sldId xmlns:r="http://schemas.openxmlformats.org/officeDocument/2006/relationships" id="260" r:id="Rf54a87eee111449a"/>
    <p:sldId xmlns:r="http://schemas.openxmlformats.org/officeDocument/2006/relationships" id="261" r:id="Rd75ec6f9d9a54ac5"/>
    <p:sldId xmlns:r="http://schemas.openxmlformats.org/officeDocument/2006/relationships" id="262" r:id="R5918b5d5ea1342b8"/>
    <p:sldId xmlns:r="http://schemas.openxmlformats.org/officeDocument/2006/relationships" id="263" r:id="Racafd897feaf4830"/>
    <p:sldId xmlns:r="http://schemas.openxmlformats.org/officeDocument/2006/relationships" id="264" r:id="R949563d8e6054989"/>
    <p:sldId xmlns:r="http://schemas.openxmlformats.org/officeDocument/2006/relationships" id="265" r:id="R0212a6546b294a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c7d34231e343dd" /><Relationship Type="http://schemas.openxmlformats.org/officeDocument/2006/relationships/slideMaster" Target="/ppt/slideMasters/slideMaster1.xml" Id="Ra630f6416cec4804" /><Relationship Type="http://schemas.openxmlformats.org/officeDocument/2006/relationships/notesMaster" Target="/ppt/notesMasters/notesMaster1.xml" Id="R89f869ccef25445b" /><Relationship Type="http://schemas.openxmlformats.org/officeDocument/2006/relationships/presProps" Target="/ppt/presProps.xml" Id="R7445ac2d5b9e4bab" /><Relationship Type="http://schemas.openxmlformats.org/officeDocument/2006/relationships/tableStyles" Target="/ppt/tableStyles.xml" Id="R95352c53817e4236" /><Relationship Type="http://schemas.openxmlformats.org/officeDocument/2006/relationships/slide" Target="/ppt/slides/slide1.xml" Id="Ra14476261ae0405c" /><Relationship Type="http://schemas.openxmlformats.org/officeDocument/2006/relationships/slide" Target="/ppt/slides/slide2.xml" Id="R6cf4b4367812484d" /><Relationship Type="http://schemas.openxmlformats.org/officeDocument/2006/relationships/slide" Target="/ppt/slides/slide3.xml" Id="R01886e16c4bb40d1" /><Relationship Type="http://schemas.openxmlformats.org/officeDocument/2006/relationships/slide" Target="/ppt/slides/slide4.xml" Id="R42a6cc26c9004243" /><Relationship Type="http://schemas.openxmlformats.org/officeDocument/2006/relationships/slide" Target="/ppt/slides/slide5.xml" Id="Rf54a87eee111449a" /><Relationship Type="http://schemas.openxmlformats.org/officeDocument/2006/relationships/slide" Target="/ppt/slides/slide6.xml" Id="Rd75ec6f9d9a54ac5" /><Relationship Type="http://schemas.openxmlformats.org/officeDocument/2006/relationships/slide" Target="/ppt/slides/slide7.xml" Id="R5918b5d5ea1342b8" /><Relationship Type="http://schemas.openxmlformats.org/officeDocument/2006/relationships/slide" Target="/ppt/slides/slide8.xml" Id="Racafd897feaf4830" /><Relationship Type="http://schemas.openxmlformats.org/officeDocument/2006/relationships/slide" Target="/ppt/slides/slide9.xml" Id="R949563d8e6054989" /><Relationship Type="http://schemas.openxmlformats.org/officeDocument/2006/relationships/slide" Target="/ppt/slides/slide10.xml" Id="R0212a6546b294a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2f64dd489344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3f1b005e4c4743" /><Relationship Type="http://schemas.openxmlformats.org/officeDocument/2006/relationships/notesMaster" Target="/ppt/notesMasters/notesMaster1.xml" Id="R35460ea959e346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230bb7f49e48eb" /><Relationship Type="http://schemas.openxmlformats.org/officeDocument/2006/relationships/notesMaster" Target="/ppt/notesMasters/notesMaster1.xml" Id="Rdbac4badbdbd40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cbe854640a47b3" /><Relationship Type="http://schemas.openxmlformats.org/officeDocument/2006/relationships/notesMaster" Target="/ppt/notesMasters/notesMaster1.xml" Id="Re9570e33ffc14e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2372beafb74f44" /><Relationship Type="http://schemas.openxmlformats.org/officeDocument/2006/relationships/notesMaster" Target="/ppt/notesMasters/notesMaster1.xml" Id="Rbccf8c2210dc4d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86fe7d040948a5" /><Relationship Type="http://schemas.openxmlformats.org/officeDocument/2006/relationships/notesMaster" Target="/ppt/notesMasters/notesMaster1.xml" Id="R166350a5274b4a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a0f555db4d444e" /><Relationship Type="http://schemas.openxmlformats.org/officeDocument/2006/relationships/notesMaster" Target="/ppt/notesMasters/notesMaster1.xml" Id="Rb3c5e1ae295e48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5a20d9fc4e4e70" /><Relationship Type="http://schemas.openxmlformats.org/officeDocument/2006/relationships/notesMaster" Target="/ppt/notesMasters/notesMaster1.xml" Id="R2fc4958d743a49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47151ac0dc4e6a" /><Relationship Type="http://schemas.openxmlformats.org/officeDocument/2006/relationships/notesMaster" Target="/ppt/notesMasters/notesMaster1.xml" Id="R37f621df83224d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f86ff94bef48e8" /><Relationship Type="http://schemas.openxmlformats.org/officeDocument/2006/relationships/notesMaster" Target="/ppt/notesMasters/notesMaster1.xml" Id="R6d582c12ed4c4a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bd33bd41c3456a" /><Relationship Type="http://schemas.openxmlformats.org/officeDocument/2006/relationships/notesMaster" Target="/ppt/notesMasters/notesMaster1.xml" Id="Rcfa2f057bb6748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b71ca3008c47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fcca1433b44788" /><Relationship Type="http://schemas.openxmlformats.org/officeDocument/2006/relationships/slideLayout" Target="/ppt/slideLayouts/slideLayout1.xml" Id="R01020ebc064d4a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020ebc064d4a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663efd55f4099" /><Relationship Type="http://schemas.openxmlformats.org/officeDocument/2006/relationships/notesSlide" Target="/ppt/notesSlides/notesSlide1.xml" Id="Ra8c8fbe25f5044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f4080262d4896" /><Relationship Type="http://schemas.openxmlformats.org/officeDocument/2006/relationships/notesSlide" Target="/ppt/notesSlides/notesSlide2.xml" Id="Rdcdaa156b9a04d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1f361e2b14b67" /><Relationship Type="http://schemas.openxmlformats.org/officeDocument/2006/relationships/image" Target="/ppt/media/image.jpeg" Id="R58764c790f47409f" /><Relationship Type="http://schemas.openxmlformats.org/officeDocument/2006/relationships/notesSlide" Target="/ppt/notesSlides/notesSlide3.xml" Id="Rd3a0f9da916443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d3a7d2956480d" /><Relationship Type="http://schemas.openxmlformats.org/officeDocument/2006/relationships/image" Target="/ppt/media/image2.jpeg" Id="R9793094af84c4dd0" /><Relationship Type="http://schemas.openxmlformats.org/officeDocument/2006/relationships/notesSlide" Target="/ppt/notesSlides/notesSlide4.xml" Id="R50584d3d769c4e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43339b2f64271" /><Relationship Type="http://schemas.openxmlformats.org/officeDocument/2006/relationships/image" Target="/ppt/media/image3.jpeg" Id="R35a6fc5e30f44ebb" /><Relationship Type="http://schemas.openxmlformats.org/officeDocument/2006/relationships/notesSlide" Target="/ppt/notesSlides/notesSlide5.xml" Id="R0520b5bfd4e047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216f3b0a849bb" /><Relationship Type="http://schemas.openxmlformats.org/officeDocument/2006/relationships/image" Target="/ppt/media/image4.jpeg" Id="Read42ac792c24b4b" /><Relationship Type="http://schemas.openxmlformats.org/officeDocument/2006/relationships/notesSlide" Target="/ppt/notesSlides/notesSlide6.xml" Id="R5cd13e3dbb0f48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0078d69894b5f" /><Relationship Type="http://schemas.openxmlformats.org/officeDocument/2006/relationships/notesSlide" Target="/ppt/notesSlides/notesSlide7.xml" Id="Rbf6b7149452443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c2cddf8da40f7" /><Relationship Type="http://schemas.openxmlformats.org/officeDocument/2006/relationships/notesSlide" Target="/ppt/notesSlides/notesSlide8.xml" Id="R93c118425d394d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bd2d1686b4b4c" /><Relationship Type="http://schemas.openxmlformats.org/officeDocument/2006/relationships/notesSlide" Target="/ppt/notesSlides/notesSlide9.xml" Id="R3a13b13dee6141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655fbd23f4903" /><Relationship Type="http://schemas.openxmlformats.org/officeDocument/2006/relationships/notesSlide" Target="/ppt/notesSlides/notesSlide10.xml" Id="R29a15c2d69a54d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C062283-8B25-4449-A59D-1A1C1263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t>TB OPERATIONS HUB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2F2871F-E608-426F-819E-882AA2F4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0001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Using GitHub for
TB programme work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42BEC62-1020-4B1F-B8B6-73E346EE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6667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A practical web guide for Management, Executive and M&amp;E teams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2A11460-EDB1-4BBB-8691-86287832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tools">
            <a:extLst xmlns:a="http://schemas.openxmlformats.org/drawingml/2006/main">
              <a:ext uri="{FF2B5EF4-FFF2-40B4-BE49-F238E27FC236}">
                <a16:creationId xmlns:a16="http://schemas.microsoft.com/office/drawing/2014/main" id="{F0649020-F750-4680-8046-520FABBA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76925"/>
            <a:ext cx="723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Docs • Discussions • Issues • Project board</a:t>
            </a:r>
          </a:p>
        </p:txBody>
      </p:sp>
    </p:spTree>
    <p:extLst>
      <p:ext uri="{BB962C8B-B14F-4D97-AF65-F5344CB8AC3E}">
        <p14:creationId xmlns:p14="http://schemas.microsoft.com/office/powerpoint/2010/main" val="1908996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2">
            <a:extLst xmlns:a="http://schemas.openxmlformats.org/drawingml/2006/main">
              <a:ext uri="{FF2B5EF4-FFF2-40B4-BE49-F238E27FC236}">
                <a16:creationId xmlns:a16="http://schemas.microsoft.com/office/drawing/2014/main" id="{C6BC87B7-C70F-40E9-BC5D-60D24063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t>YOUR TB WORK IN ONE PLACE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7B844E3-3924-4E78-B2B6-28735ECA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Start with the task—not the GitHub tool</a:t>
            </a:r>
          </a:p>
        </p:txBody>
      </p:sp>
      <p:sp>
        <p:nvSpPr>
          <p:cNvPr id="3" name="overview-intro">
            <a:extLst xmlns:a="http://schemas.openxmlformats.org/drawingml/2006/main">
              <a:ext uri="{FF2B5EF4-FFF2-40B4-BE49-F238E27FC236}">
                <a16:creationId xmlns:a16="http://schemas.microsoft.com/office/drawing/2014/main" id="{A2317DA5-3552-4C58-B109-20FF6E8A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57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These four questions cover the most common work for TB programme teams.</a:t>
            </a:r>
          </a:p>
        </p:txBody>
      </p:sp>
      <p:sp>
        <p:nvSpPr>
          <p:cNvPr id="4" name="docs-panel">
            <a:extLst xmlns:a="http://schemas.openxmlformats.org/drawingml/2006/main">
              <a:ext uri="{FF2B5EF4-FFF2-40B4-BE49-F238E27FC236}">
                <a16:creationId xmlns:a16="http://schemas.microsoft.com/office/drawing/2014/main" id="{B36F5541-4F00-4044-931D-6EDA9A58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42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cs-title">
            <a:extLst xmlns:a="http://schemas.openxmlformats.org/drawingml/2006/main">
              <a:ext uri="{FF2B5EF4-FFF2-40B4-BE49-F238E27FC236}">
                <a16:creationId xmlns:a16="http://schemas.microsoft.com/office/drawing/2014/main" id="{16F28365-E237-4D51-91AB-DA832BA8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Docs</a:t>
            </a:r>
          </a:p>
        </p:txBody>
      </p:sp>
      <p:sp>
        <p:nvSpPr>
          <p:cNvPr id="6" name="docs-body">
            <a:extLst xmlns:a="http://schemas.openxmlformats.org/drawingml/2006/main">
              <a:ext uri="{FF2B5EF4-FFF2-40B4-BE49-F238E27FC236}">
                <a16:creationId xmlns:a16="http://schemas.microsoft.com/office/drawing/2014/main" id="{1254F791-49E9-42EA-8ABD-01E71096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49339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Need the indicator definition, reporting calendar, SOP or approved template?
Open Docs.</a:t>
            </a:r>
          </a:p>
        </p:txBody>
      </p:sp>
      <p:sp>
        <p:nvSpPr>
          <p:cNvPr id="7" name="discussions-panel">
            <a:extLst xmlns:a="http://schemas.openxmlformats.org/drawingml/2006/main">
              <a:ext uri="{FF2B5EF4-FFF2-40B4-BE49-F238E27FC236}">
                <a16:creationId xmlns:a16="http://schemas.microsoft.com/office/drawing/2014/main" id="{69468199-EAF3-46CD-92D4-ABD71498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542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scussions-title">
            <a:extLst xmlns:a="http://schemas.openxmlformats.org/drawingml/2006/main">
              <a:ext uri="{FF2B5EF4-FFF2-40B4-BE49-F238E27FC236}">
                <a16:creationId xmlns:a16="http://schemas.microsoft.com/office/drawing/2014/main" id="{A48F8BDE-8373-4B5F-9648-27FC0C29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0505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Discussions</a:t>
            </a:r>
          </a:p>
        </p:txBody>
      </p:sp>
      <p:sp>
        <p:nvSpPr>
          <p:cNvPr id="9" name="discussions-body">
            <a:extLst xmlns:a="http://schemas.openxmlformats.org/drawingml/2006/main">
              <a:ext uri="{FF2B5EF4-FFF2-40B4-BE49-F238E27FC236}">
                <a16:creationId xmlns:a16="http://schemas.microsoft.com/office/drawing/2014/main" id="{583C89FA-7E84-4822-A71C-069CE2C4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62250"/>
            <a:ext cx="49339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Need clarification on a reporting instruction or want to announce a review?
Start a Discussion.</a:t>
            </a:r>
          </a:p>
        </p:txBody>
      </p:sp>
      <p:sp>
        <p:nvSpPr>
          <p:cNvPr id="10" name="issues-panel">
            <a:extLst xmlns:a="http://schemas.openxmlformats.org/drawingml/2006/main">
              <a:ext uri="{FF2B5EF4-FFF2-40B4-BE49-F238E27FC236}">
                <a16:creationId xmlns:a16="http://schemas.microsoft.com/office/drawing/2014/main" id="{B3DAFEF5-4C2D-426E-B6AD-02E38124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42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ssues-title">
            <a:extLst xmlns:a="http://schemas.openxmlformats.org/drawingml/2006/main">
              <a:ext uri="{FF2B5EF4-FFF2-40B4-BE49-F238E27FC236}">
                <a16:creationId xmlns:a16="http://schemas.microsoft.com/office/drawing/2014/main" id="{B534F5C2-59E6-40F2-96C6-82646F44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Issues</a:t>
            </a:r>
          </a:p>
        </p:txBody>
      </p:sp>
      <p:sp>
        <p:nvSpPr>
          <p:cNvPr id="12" name="issues-body">
            <a:extLst xmlns:a="http://schemas.openxmlformats.org/drawingml/2006/main">
              <a:ext uri="{FF2B5EF4-FFF2-40B4-BE49-F238E27FC236}">
                <a16:creationId xmlns:a16="http://schemas.microsoft.com/office/drawing/2014/main" id="{B4DC51E7-0CA1-4ED7-A149-5C430A36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49339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Found a data-quality problem or need a reporting change completed?
Create an Issue.</a:t>
            </a:r>
          </a:p>
        </p:txBody>
      </p:sp>
      <p:sp>
        <p:nvSpPr>
          <p:cNvPr id="13" name="projects-panel">
            <a:extLst xmlns:a="http://schemas.openxmlformats.org/drawingml/2006/main">
              <a:ext uri="{FF2B5EF4-FFF2-40B4-BE49-F238E27FC236}">
                <a16:creationId xmlns:a16="http://schemas.microsoft.com/office/drawing/2014/main" id="{335B2227-B85E-4BF9-903B-39A2A6AE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542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jects-title">
            <a:extLst xmlns:a="http://schemas.openxmlformats.org/drawingml/2006/main">
              <a:ext uri="{FF2B5EF4-FFF2-40B4-BE49-F238E27FC236}">
                <a16:creationId xmlns:a16="http://schemas.microsoft.com/office/drawing/2014/main" id="{611ECDC8-D86A-417E-866E-19FD2479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Project board</a:t>
            </a:r>
          </a:p>
        </p:txBody>
      </p:sp>
      <p:sp>
        <p:nvSpPr>
          <p:cNvPr id="15" name="projects-body">
            <a:extLst xmlns:a="http://schemas.openxmlformats.org/drawingml/2006/main">
              <a:ext uri="{FF2B5EF4-FFF2-40B4-BE49-F238E27FC236}">
                <a16:creationId xmlns:a16="http://schemas.microsoft.com/office/drawing/2014/main" id="{1C1D4F13-D3D6-488F-8889-67ADFC4B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62500"/>
            <a:ext cx="49339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Want to know what is new, blocked, in progress or completed?
Check the Project board.</a:t>
            </a:r>
          </a:p>
        </p:txBody>
      </p:sp>
      <p:sp>
        <p:nvSpPr>
          <p:cNvPr id="16" name="source-2">
            <a:extLst xmlns:a="http://schemas.openxmlformats.org/drawingml/2006/main">
              <a:ext uri="{FF2B5EF4-FFF2-40B4-BE49-F238E27FC236}">
                <a16:creationId xmlns:a16="http://schemas.microsoft.com/office/drawing/2014/main" id="{F09CCFB2-A9FA-4D30-B465-FF70CD73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90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GitHub Docs — GitHub Pages, Discussions, Issues and Projects</a:t>
            </a:r>
          </a:p>
        </p:txBody>
      </p:sp>
      <p:sp>
        <p:nvSpPr>
          <p:cNvPr id="17" name="page-2">
            <a:extLst xmlns:a="http://schemas.openxmlformats.org/drawingml/2006/main">
              <a:ext uri="{FF2B5EF4-FFF2-40B4-BE49-F238E27FC236}">
                <a16:creationId xmlns:a16="http://schemas.microsoft.com/office/drawing/2014/main" id="{31CADC5F-8B13-4979-BEC5-FF91AA39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246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346675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3">
            <a:extLst xmlns:a="http://schemas.openxmlformats.org/drawingml/2006/main">
              <a:ext uri="{FF2B5EF4-FFF2-40B4-BE49-F238E27FC236}">
                <a16:creationId xmlns:a16="http://schemas.microsoft.com/office/drawing/2014/main" id="{F5A0E927-3EE7-4509-858C-20EE0FC6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t>1 — WHEN YOU NEED THE RIGHT REFERENCE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294B76EA-13CB-4976-A232-5C0B8DF9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Find the approved TB guidance in Docs</a:t>
            </a:r>
          </a:p>
        </p:txBody>
      </p:sp>
      <p:sp>
        <p:nvSpPr>
          <p:cNvPr id="3" name="purpose-3">
            <a:extLst xmlns:a="http://schemas.openxmlformats.org/drawingml/2006/main">
              <a:ext uri="{FF2B5EF4-FFF2-40B4-BE49-F238E27FC236}">
                <a16:creationId xmlns:a16="http://schemas.microsoft.com/office/drawing/2014/main" id="{D1A2D6AC-0D14-4C7E-B529-56B24E25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762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Use Docs before asking for a file in email or a messaging group.</a:t>
            </a:r>
          </a:p>
        </p:txBody>
      </p:sp>
      <p:sp>
        <p:nvSpPr>
          <p:cNvPr id="4" name="steps-3">
            <a:extLst xmlns:a="http://schemas.openxmlformats.org/drawingml/2006/main">
              <a:ext uri="{FF2B5EF4-FFF2-40B4-BE49-F238E27FC236}">
                <a16:creationId xmlns:a16="http://schemas.microsoft.com/office/drawing/2014/main" id="{204F099D-2E51-4CAE-9B23-5D18761F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47625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1. Open traj3ctory.github.io/TB-Operations-Hub.
2. Browse the left menu or search: “treatment outcome definition”.
3. Open the approved page and use its linked template or procedure.
4. Share the page link so everyone refers to the same version.</a:t>
            </a:r>
          </a:p>
        </p:txBody>
      </p:sp>
      <p:sp>
        <p:nvSpPr>
          <p:cNvPr id="5" name="avoid-3-panel">
            <a:extLst xmlns:a="http://schemas.openxmlformats.org/drawingml/2006/main">
              <a:ext uri="{FF2B5EF4-FFF2-40B4-BE49-F238E27FC236}">
                <a16:creationId xmlns:a16="http://schemas.microsoft.com/office/drawing/2014/main" id="{A740193D-88D9-45D8-8792-371F5EED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476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void-3">
            <a:extLst xmlns:a="http://schemas.openxmlformats.org/drawingml/2006/main">
              <a:ext uri="{FF2B5EF4-FFF2-40B4-BE49-F238E27FC236}">
                <a16:creationId xmlns:a16="http://schemas.microsoft.com/office/drawing/2014/main" id="{84C59535-B8AD-4346-93E4-77CF9A2D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3525"/>
            <a:ext cx="4381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Best for: indicator definitions • SOPs • reporting calendars • templates • approved decisions</a:t>
            </a:r>
          </a:p>
        </p:txBody>
      </p:sp>
      <p:sp>
        <p:nvSpPr>
          <p:cNvPr id="7" name="tb-docs-screen-backing">
            <a:extLst xmlns:a="http://schemas.openxmlformats.org/drawingml/2006/main">
              <a:ext uri="{FF2B5EF4-FFF2-40B4-BE49-F238E27FC236}">
                <a16:creationId xmlns:a16="http://schemas.microsoft.com/office/drawing/2014/main" id="{11C34530-CB5D-4FB3-81A7-4D065835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61722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8"/>
          </a:solidFill>
          <a:ln xmlns:a="http://schemas.openxmlformats.org/drawingml/2006/main" w="9525">
            <a:solidFill>
              <a:srgbClr val="315847"/>
            </a:solidFill>
            <a:prstDash val="solid"/>
          </a:ln>
        </p:spPr>
      </p:sp>
      <p:pic>
        <p:nvPicPr>
          <p:cNvPr id="19" name="tb-docs-scree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64c790f47409f"/>
          <a:stretch xmlns:a="http://schemas.openxmlformats.org/drawingml/2006/main"/>
        </p:blipFill>
        <p:spPr>
          <a:xfrm xmlns:a="http://schemas.openxmlformats.org/drawingml/2006/main">
            <a:off x="5734050" y="1907667"/>
            <a:ext cx="5943600" cy="3328416"/>
          </a:xfrm>
          <a:prstGeom xmlns:a="http://schemas.openxmlformats.org/drawingml/2006/main" prst="rect">
            <a:avLst/>
          </a:prstGeom>
        </p:spPr>
      </p:pic>
      <p:sp>
        <p:nvSpPr>
          <p:cNvPr id="9" name="docs-examples">
            <a:extLst xmlns:a="http://schemas.openxmlformats.org/drawingml/2006/main">
              <a:ext uri="{FF2B5EF4-FFF2-40B4-BE49-F238E27FC236}">
                <a16:creationId xmlns:a16="http://schemas.microsoft.com/office/drawing/2014/main" id="{DF821FC6-1968-4ACB-9B48-2FB892E5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00700"/>
            <a:ext cx="5791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Example: search once, open the approved definition, share the page link</a:t>
            </a:r>
          </a:p>
        </p:txBody>
      </p:sp>
      <p:sp>
        <p:nvSpPr>
          <p:cNvPr id="10" name="source-3">
            <a:extLst xmlns:a="http://schemas.openxmlformats.org/drawingml/2006/main">
              <a:ext uri="{FF2B5EF4-FFF2-40B4-BE49-F238E27FC236}">
                <a16:creationId xmlns:a16="http://schemas.microsoft.com/office/drawing/2014/main" id="{D94A032B-492A-4F6B-95A7-684AEF43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90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Live site: traj3ctory.github.io/TB-Operations-Hub • Hosted with GitHub Pages</a:t>
            </a:r>
          </a:p>
        </p:txBody>
      </p:sp>
      <p:sp>
        <p:nvSpPr>
          <p:cNvPr id="11" name="page-3">
            <a:extLst xmlns:a="http://schemas.openxmlformats.org/drawingml/2006/main">
              <a:ext uri="{FF2B5EF4-FFF2-40B4-BE49-F238E27FC236}">
                <a16:creationId xmlns:a16="http://schemas.microsoft.com/office/drawing/2014/main" id="{EB35DD0F-ADC4-4257-AE9B-0C2C3861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246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07151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4">
            <a:extLst xmlns:a="http://schemas.openxmlformats.org/drawingml/2006/main">
              <a:ext uri="{FF2B5EF4-FFF2-40B4-BE49-F238E27FC236}">
                <a16:creationId xmlns:a16="http://schemas.microsoft.com/office/drawing/2014/main" id="{5135AEEE-EF3F-494C-96D4-63C12630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t>2 — DATA PROBLEMS AND CHANGE REQUESTS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4667F4C-A189-4A61-B145-5AF3AE01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Use an Issue when someone must take action</a:t>
            </a:r>
          </a:p>
        </p:txBody>
      </p:sp>
      <p:sp>
        <p:nvSpPr>
          <p:cNvPr id="3" name="purpose-4">
            <a:extLst xmlns:a="http://schemas.openxmlformats.org/drawingml/2006/main">
              <a:ext uri="{FF2B5EF4-FFF2-40B4-BE49-F238E27FC236}">
                <a16:creationId xmlns:a16="http://schemas.microsoft.com/office/drawing/2014/main" id="{480AE64A-CEE3-450B-BE17-147F7D0F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762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Example: “Data quality: Q2 treatment-outcome total differs from the validated report.”</a:t>
            </a:r>
          </a:p>
        </p:txBody>
      </p:sp>
      <p:sp>
        <p:nvSpPr>
          <p:cNvPr id="4" name="steps-4">
            <a:extLst xmlns:a="http://schemas.openxmlformats.org/drawingml/2006/main">
              <a:ext uri="{FF2B5EF4-FFF2-40B4-BE49-F238E27FC236}">
                <a16:creationId xmlns:a16="http://schemas.microsoft.com/office/drawing/2014/main" id="{6EEA8A0B-7E69-4E72-97A1-88F1E9FD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47625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Open Issues → New issue → Problem report.
Include: reporting period, location or level, expected result, observed result, programme impact and needed-by date.
Attach a safe screenshot or file, then submit. Follow progress in comments and on the board.</a:t>
            </a:r>
          </a:p>
        </p:txBody>
      </p:sp>
      <p:sp>
        <p:nvSpPr>
          <p:cNvPr id="5" name="avoid-4-panel">
            <a:extLst xmlns:a="http://schemas.openxmlformats.org/drawingml/2006/main">
              <a:ext uri="{FF2B5EF4-FFF2-40B4-BE49-F238E27FC236}">
                <a16:creationId xmlns:a16="http://schemas.microsoft.com/office/drawing/2014/main" id="{CF65D436-700F-4744-A682-39E42141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476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void-4">
            <a:extLst xmlns:a="http://schemas.openxmlformats.org/drawingml/2006/main">
              <a:ext uri="{FF2B5EF4-FFF2-40B4-BE49-F238E27FC236}">
                <a16:creationId xmlns:a16="http://schemas.microsoft.com/office/drawing/2014/main" id="{1BDF198B-B470-4AFC-BC02-2A6BB038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3525"/>
            <a:ext cx="4381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Never upload patient names, IDs or other confidential health information. One Issue = one outcome.</a:t>
            </a:r>
          </a:p>
        </p:txBody>
      </p:sp>
      <p:sp>
        <p:nvSpPr>
          <p:cNvPr id="7" name="issue-setup-screen-backing">
            <a:extLst xmlns:a="http://schemas.openxmlformats.org/drawingml/2006/main">
              <a:ext uri="{FF2B5EF4-FFF2-40B4-BE49-F238E27FC236}">
                <a16:creationId xmlns:a16="http://schemas.microsoft.com/office/drawing/2014/main" id="{EE93FC65-5C34-4E2D-9B97-4FCE6F3C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429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8"/>
          </a:solidFill>
          <a:ln xmlns:a="http://schemas.openxmlformats.org/drawingml/2006/main" w="9525">
            <a:solidFill>
              <a:srgbClr val="315847"/>
            </a:solidFill>
            <a:prstDash val="solid"/>
          </a:ln>
        </p:spPr>
      </p:sp>
      <p:pic>
        <p:nvPicPr>
          <p:cNvPr id="19" name="issue-setup-scree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3094af84c4dd0"/>
          <a:stretch xmlns:a="http://schemas.openxmlformats.org/drawingml/2006/main"/>
        </p:blipFill>
        <p:spPr>
          <a:xfrm xmlns:a="http://schemas.openxmlformats.org/drawingml/2006/main">
            <a:off x="6495009" y="2209800"/>
            <a:ext cx="4250231" cy="2247900"/>
          </a:xfrm>
          <a:prstGeom xmlns:a="http://schemas.openxmlformats.org/drawingml/2006/main" prst="rect">
            <a:avLst/>
          </a:prstGeom>
        </p:spPr>
      </p:pic>
      <p:sp>
        <p:nvSpPr>
          <p:cNvPr id="9" name="issue-setup-caption">
            <a:extLst xmlns:a="http://schemas.openxmlformats.org/drawingml/2006/main">
              <a:ext uri="{FF2B5EF4-FFF2-40B4-BE49-F238E27FC236}">
                <a16:creationId xmlns:a16="http://schemas.microsoft.com/office/drawing/2014/main" id="{56975ED8-6800-4660-B4E4-000D788D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9650"/>
            <a:ext cx="5048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62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The TB form collects reporting context, impact and a privacy check</a:t>
            </a:r>
          </a:p>
        </p:txBody>
      </p:sp>
      <p:sp>
        <p:nvSpPr>
          <p:cNvPr id="10" name="source-4">
            <a:extLst xmlns:a="http://schemas.openxmlformats.org/drawingml/2006/main">
              <a:ext uri="{FF2B5EF4-FFF2-40B4-BE49-F238E27FC236}">
                <a16:creationId xmlns:a16="http://schemas.microsoft.com/office/drawing/2014/main" id="{DB7341C8-AFB3-4314-A4DF-565ACE5D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90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GitHub Docs — Issue templates</a:t>
            </a:r>
          </a:p>
        </p:txBody>
      </p:sp>
      <p:sp>
        <p:nvSpPr>
          <p:cNvPr id="11" name="page-4">
            <a:extLst xmlns:a="http://schemas.openxmlformats.org/drawingml/2006/main">
              <a:ext uri="{FF2B5EF4-FFF2-40B4-BE49-F238E27FC236}">
                <a16:creationId xmlns:a16="http://schemas.microsoft.com/office/drawing/2014/main" id="{238F4D27-9D32-4BB1-8A3B-DF921DD2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246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0080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5">
            <a:extLst xmlns:a="http://schemas.openxmlformats.org/drawingml/2006/main">
              <a:ext uri="{FF2B5EF4-FFF2-40B4-BE49-F238E27FC236}">
                <a16:creationId xmlns:a16="http://schemas.microsoft.com/office/drawing/2014/main" id="{42F672C3-8A02-4239-A5D8-C5215922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t>3 — Q&amp;A AND ANNOUNCEMENTS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37A7732-D4FE-40DC-B05F-70EC2C64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Use Discussions for questions everyone may share</a:t>
            </a:r>
          </a:p>
        </p:txBody>
      </p:sp>
      <p:sp>
        <p:nvSpPr>
          <p:cNvPr id="3" name="purpose-5">
            <a:extLst xmlns:a="http://schemas.openxmlformats.org/drawingml/2006/main">
              <a:ext uri="{FF2B5EF4-FFF2-40B4-BE49-F238E27FC236}">
                <a16:creationId xmlns:a16="http://schemas.microsoft.com/office/drawing/2014/main" id="{48B7CE0F-AE9A-462B-B615-3CB729A2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762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Example Q&amp;A: “Which reporting month should include late laboratory results?”</a:t>
            </a:r>
          </a:p>
        </p:txBody>
      </p:sp>
      <p:sp>
        <p:nvSpPr>
          <p:cNvPr id="4" name="steps-5">
            <a:extLst xmlns:a="http://schemas.openxmlformats.org/drawingml/2006/main">
              <a:ext uri="{FF2B5EF4-FFF2-40B4-BE49-F238E27FC236}">
                <a16:creationId xmlns:a16="http://schemas.microsoft.com/office/drawing/2014/main" id="{B7437862-2C6D-4D75-A0C7-8DF88022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47625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1. Select Discussions → New discussion.
2. Choose Q&amp;A, Ideas or Announcements.
3. Write a specific title, explain the TB programme context and mention the people who can answer.
4. Mark the accepted answer so others can find it later.</a:t>
            </a:r>
          </a:p>
        </p:txBody>
      </p:sp>
      <p:sp>
        <p:nvSpPr>
          <p:cNvPr id="5" name="avoid-5-panel">
            <a:extLst xmlns:a="http://schemas.openxmlformats.org/drawingml/2006/main">
              <a:ext uri="{FF2B5EF4-FFF2-40B4-BE49-F238E27FC236}">
                <a16:creationId xmlns:a16="http://schemas.microsoft.com/office/drawing/2014/main" id="{4AEAD311-2766-4FE6-97A2-1C67D9A1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476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void-5">
            <a:extLst xmlns:a="http://schemas.openxmlformats.org/drawingml/2006/main">
              <a:ext uri="{FF2B5EF4-FFF2-40B4-BE49-F238E27FC236}">
                <a16:creationId xmlns:a16="http://schemas.microsoft.com/office/drawing/2014/main" id="{975B5247-0C91-4CB4-804C-F30BA650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3525"/>
            <a:ext cx="4381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If the answer requires a change or investigation, create an Issue and link the Discussion.</a:t>
            </a:r>
          </a:p>
        </p:txBody>
      </p:sp>
      <p:sp>
        <p:nvSpPr>
          <p:cNvPr id="7" name="discussion-form-screen-backing">
            <a:extLst xmlns:a="http://schemas.openxmlformats.org/drawingml/2006/main">
              <a:ext uri="{FF2B5EF4-FFF2-40B4-BE49-F238E27FC236}">
                <a16:creationId xmlns:a16="http://schemas.microsoft.com/office/drawing/2014/main" id="{50ADCC23-4B6C-4CC4-A4F3-4E180728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61722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8"/>
          </a:solidFill>
          <a:ln xmlns:a="http://schemas.openxmlformats.org/drawingml/2006/main" w="9525">
            <a:solidFill>
              <a:srgbClr val="315847"/>
            </a:solidFill>
            <a:prstDash val="solid"/>
          </a:ln>
        </p:spPr>
      </p:sp>
      <p:pic>
        <p:nvPicPr>
          <p:cNvPr id="18" name="discussion-form-scree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6fc5e30f44ebb"/>
          <a:srcRect xmlns:a="http://schemas.openxmlformats.org/drawingml/2006/main" l="11264" t="0" r="112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4050" y="1790700"/>
            <a:ext cx="5943600" cy="4057650"/>
          </a:xfrm>
          <a:prstGeom xmlns:a="http://schemas.openxmlformats.org/drawingml/2006/main" prst="rect">
            <a:avLst/>
          </a:prstGeom>
        </p:spPr>
      </p:pic>
      <p:sp>
        <p:nvSpPr>
          <p:cNvPr id="9" name="source-5">
            <a:extLst xmlns:a="http://schemas.openxmlformats.org/drawingml/2006/main">
              <a:ext uri="{FF2B5EF4-FFF2-40B4-BE49-F238E27FC236}">
                <a16:creationId xmlns:a16="http://schemas.microsoft.com/office/drawing/2014/main" id="{9E8527C1-F5E3-4367-BBB3-5E8C8331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90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docs.github.com — Quickstart for GitHub Discussions</a:t>
            </a:r>
          </a:p>
        </p:txBody>
      </p:sp>
      <p:sp>
        <p:nvSpPr>
          <p:cNvPr id="10" name="page-5">
            <a:extLst xmlns:a="http://schemas.openxmlformats.org/drawingml/2006/main">
              <a:ext uri="{FF2B5EF4-FFF2-40B4-BE49-F238E27FC236}">
                <a16:creationId xmlns:a16="http://schemas.microsoft.com/office/drawing/2014/main" id="{68805963-24EA-42F2-8A83-631234AA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246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43081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6">
            <a:extLst xmlns:a="http://schemas.openxmlformats.org/drawingml/2006/main">
              <a:ext uri="{FF2B5EF4-FFF2-40B4-BE49-F238E27FC236}">
                <a16:creationId xmlns:a16="http://schemas.microsoft.com/office/drawing/2014/main" id="{248D427F-AD92-4FDB-B69C-F0A2FFFB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t>4 — VISUAL STATUS TRACKING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41166BC5-F953-4CD6-BF5B-77E3D11C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Follow work without chasing updates</a:t>
            </a:r>
          </a:p>
        </p:txBody>
      </p:sp>
      <p:sp>
        <p:nvSpPr>
          <p:cNvPr id="3" name="purpose-6">
            <a:extLst xmlns:a="http://schemas.openxmlformats.org/drawingml/2006/main">
              <a:ext uri="{FF2B5EF4-FFF2-40B4-BE49-F238E27FC236}">
                <a16:creationId xmlns:a16="http://schemas.microsoft.com/office/drawing/2014/main" id="{6198FDB1-52CF-4AF2-ACDD-9D976B0E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762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29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M&amp;E users check their request; coordinators manage the queue; leadership sees priorities.</a:t>
            </a:r>
          </a:p>
        </p:txBody>
      </p:sp>
      <p:sp>
        <p:nvSpPr>
          <p:cNvPr id="4" name="steps-6">
            <a:extLst xmlns:a="http://schemas.openxmlformats.org/drawingml/2006/main">
              <a:ext uri="{FF2B5EF4-FFF2-40B4-BE49-F238E27FC236}">
                <a16:creationId xmlns:a16="http://schemas.microsoft.com/office/drawing/2014/main" id="{D178A0D2-D60B-453D-85DB-27C58762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47625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Find the Issue card and read its status:
New → Triaged → In progress → Blocked → Done
Open the card for the owner, target date and latest comments.
Leadership can filter to High priority or Blocked items before the weekly review.</a:t>
            </a:r>
          </a:p>
        </p:txBody>
      </p:sp>
      <p:sp>
        <p:nvSpPr>
          <p:cNvPr id="5" name="avoid-6-panel">
            <a:extLst xmlns:a="http://schemas.openxmlformats.org/drawingml/2006/main">
              <a:ext uri="{FF2B5EF4-FFF2-40B4-BE49-F238E27FC236}">
                <a16:creationId xmlns:a16="http://schemas.microsoft.com/office/drawing/2014/main" id="{3A2606A4-2140-45CF-8A9C-0FBE2871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476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void-6">
            <a:extLst xmlns:a="http://schemas.openxmlformats.org/drawingml/2006/main">
              <a:ext uri="{FF2B5EF4-FFF2-40B4-BE49-F238E27FC236}">
                <a16:creationId xmlns:a16="http://schemas.microsoft.com/office/drawing/2014/main" id="{D01C9B50-C5B4-4D9D-B6D7-5C25BEC5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3525"/>
            <a:ext cx="4381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Do not duplicate updates on the board. Put evidence and decisions in the linked Issue.</a:t>
            </a:r>
          </a:p>
        </p:txBody>
      </p:sp>
      <p:sp>
        <p:nvSpPr>
          <p:cNvPr id="7" name="project-board-screen-backing">
            <a:extLst xmlns:a="http://schemas.openxmlformats.org/drawingml/2006/main">
              <a:ext uri="{FF2B5EF4-FFF2-40B4-BE49-F238E27FC236}">
                <a16:creationId xmlns:a16="http://schemas.microsoft.com/office/drawing/2014/main" id="{6F88720E-A9EB-49FC-90ED-922D144C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90700"/>
            <a:ext cx="63627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8"/>
          </a:solidFill>
          <a:ln xmlns:a="http://schemas.openxmlformats.org/drawingml/2006/main" w="9525">
            <a:solidFill>
              <a:srgbClr val="315847"/>
            </a:solidFill>
            <a:prstDash val="solid"/>
          </a:ln>
        </p:spPr>
      </p:sp>
      <p:pic>
        <p:nvPicPr>
          <p:cNvPr id="19" name="project-board-scree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42ac792c24b4b"/>
          <a:stretch xmlns:a="http://schemas.openxmlformats.org/drawingml/2006/main"/>
        </p:blipFill>
        <p:spPr>
          <a:xfrm xmlns:a="http://schemas.openxmlformats.org/drawingml/2006/main">
            <a:off x="5543550" y="2016421"/>
            <a:ext cx="6134100" cy="3244257"/>
          </a:xfrm>
          <a:prstGeom xmlns:a="http://schemas.openxmlformats.org/drawingml/2006/main" prst="rect">
            <a:avLst/>
          </a:prstGeom>
        </p:spPr>
      </p:pic>
      <p:sp>
        <p:nvSpPr>
          <p:cNvPr id="9" name="project-caption">
            <a:extLst xmlns:a="http://schemas.openxmlformats.org/drawingml/2006/main">
              <a:ext uri="{FF2B5EF4-FFF2-40B4-BE49-F238E27FC236}">
                <a16:creationId xmlns:a16="http://schemas.microsoft.com/office/drawing/2014/main" id="{66A0368D-FE79-4E86-AC7F-B6E79F1D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57850"/>
            <a:ext cx="5981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TB use: filter Blocked items, then open the linked Issue for the reason</a:t>
            </a:r>
          </a:p>
        </p:txBody>
      </p:sp>
      <p:sp>
        <p:nvSpPr>
          <p:cNvPr id="10" name="source-6">
            <a:extLst xmlns:a="http://schemas.openxmlformats.org/drawingml/2006/main">
              <a:ext uri="{FF2B5EF4-FFF2-40B4-BE49-F238E27FC236}">
                <a16:creationId xmlns:a16="http://schemas.microsoft.com/office/drawing/2014/main" id="{BB7A9A56-D2DD-4E89-AB59-632E68A4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90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docs.github.com — Changing the layout of a project view</a:t>
            </a:r>
          </a:p>
        </p:txBody>
      </p:sp>
      <p:sp>
        <p:nvSpPr>
          <p:cNvPr id="11" name="page-6">
            <a:extLst xmlns:a="http://schemas.openxmlformats.org/drawingml/2006/main">
              <a:ext uri="{FF2B5EF4-FFF2-40B4-BE49-F238E27FC236}">
                <a16:creationId xmlns:a16="http://schemas.microsoft.com/office/drawing/2014/main" id="{984D464B-D183-406A-9671-984A700C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246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62714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7">
            <a:extLst xmlns:a="http://schemas.openxmlformats.org/drawingml/2006/main">
              <a:ext uri="{FF2B5EF4-FFF2-40B4-BE49-F238E27FC236}">
                <a16:creationId xmlns:a16="http://schemas.microsoft.com/office/drawing/2014/main" id="{389B797D-813D-4400-845B-ACEF3872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t>EXAMPLE — FROM REPORT TO RESOLUTION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0C8C2B4D-63DA-4A52-8D42-B3A4F5EE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A TB data problem moves through one clear path</a:t>
            </a:r>
          </a:p>
        </p:txBody>
      </p:sp>
      <p:cxnSp>
        <p:nvCxnSpPr>
          <p:cNvPr id="20" name="setup-line"/>
          <p:cNvCxnSpPr/>
          <p:nvPr/>
        </p:nvCxnSpPr>
        <p:spPr>
          <a:xfrm xmlns:a="http://schemas.openxmlformats.org/drawingml/2006/main">
            <a:off x="1123950" y="3143250"/>
            <a:ext cx="9867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847"/>
            </a:solidFill>
            <a:prstDash val="solid"/>
          </a:ln>
        </p:spPr>
      </p:cxnSp>
      <p:sp>
        <p:nvSpPr>
          <p:cNvPr id="4" name="setup-dot-1">
            <a:extLst xmlns:a="http://schemas.openxmlformats.org/drawingml/2006/main">
              <a:ext uri="{FF2B5EF4-FFF2-40B4-BE49-F238E27FC236}">
                <a16:creationId xmlns:a16="http://schemas.microsoft.com/office/drawing/2014/main" id="{0CB6C517-7CA7-481D-84AD-C9916D11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tup-dot-2">
            <a:extLst xmlns:a="http://schemas.openxmlformats.org/drawingml/2006/main">
              <a:ext uri="{FF2B5EF4-FFF2-40B4-BE49-F238E27FC236}">
                <a16:creationId xmlns:a16="http://schemas.microsoft.com/office/drawing/2014/main" id="{0FD61287-6287-47FF-B067-E87B55A8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tup-dot-3">
            <a:extLst xmlns:a="http://schemas.openxmlformats.org/drawingml/2006/main">
              <a:ext uri="{FF2B5EF4-FFF2-40B4-BE49-F238E27FC236}">
                <a16:creationId xmlns:a16="http://schemas.microsoft.com/office/drawing/2014/main" id="{DD2E770E-3CAA-4623-9724-91B025EB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hase-1-label">
            <a:extLst xmlns:a="http://schemas.openxmlformats.org/drawingml/2006/main">
              <a:ext uri="{FF2B5EF4-FFF2-40B4-BE49-F238E27FC236}">
                <a16:creationId xmlns:a16="http://schemas.microsoft.com/office/drawing/2014/main" id="{53F9BDE2-D155-4AF9-8400-731ACF34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t>1 — REPORT</a:t>
            </a:r>
          </a:p>
        </p:txBody>
      </p:sp>
      <p:sp>
        <p:nvSpPr>
          <p:cNvPr id="8" name="phase-1-title">
            <a:extLst xmlns:a="http://schemas.openxmlformats.org/drawingml/2006/main">
              <a:ext uri="{FF2B5EF4-FFF2-40B4-BE49-F238E27FC236}">
                <a16:creationId xmlns:a16="http://schemas.microsoft.com/office/drawing/2014/main" id="{B83C51D4-7B62-418A-99BE-DE965BCE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M&amp;E creates an Issue</a:t>
            </a:r>
          </a:p>
        </p:txBody>
      </p:sp>
      <p:sp>
        <p:nvSpPr>
          <p:cNvPr id="9" name="phase-1-body">
            <a:extLst xmlns:a="http://schemas.openxmlformats.org/drawingml/2006/main">
              <a:ext uri="{FF2B5EF4-FFF2-40B4-BE49-F238E27FC236}">
                <a16:creationId xmlns:a16="http://schemas.microsoft.com/office/drawing/2014/main" id="{DEB01278-A5B5-483B-A1B3-7C00849D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143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Records the reporting period, expected and observed result, impact and safe evidence.</a:t>
            </a:r>
          </a:p>
        </p:txBody>
      </p:sp>
      <p:sp>
        <p:nvSpPr>
          <p:cNvPr id="10" name="phase-2-label">
            <a:extLst xmlns:a="http://schemas.openxmlformats.org/drawingml/2006/main">
              <a:ext uri="{FF2B5EF4-FFF2-40B4-BE49-F238E27FC236}">
                <a16:creationId xmlns:a16="http://schemas.microsoft.com/office/drawing/2014/main" id="{E4C8EF42-FA69-4B0F-82EA-444524BD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955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t>2 — RESOLVE</a:t>
            </a:r>
          </a:p>
        </p:txBody>
      </p:sp>
      <p:sp>
        <p:nvSpPr>
          <p:cNvPr id="11" name="phase-2-title">
            <a:extLst xmlns:a="http://schemas.openxmlformats.org/drawingml/2006/main">
              <a:ext uri="{FF2B5EF4-FFF2-40B4-BE49-F238E27FC236}">
                <a16:creationId xmlns:a16="http://schemas.microsoft.com/office/drawing/2014/main" id="{8733816F-8F61-4082-B332-125E3E77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6235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Coordinator triages it</a:t>
            </a:r>
          </a:p>
        </p:txBody>
      </p:sp>
      <p:sp>
        <p:nvSpPr>
          <p:cNvPr id="12" name="phase-2-body">
            <a:extLst xmlns:a="http://schemas.openxmlformats.org/drawingml/2006/main">
              <a:ext uri="{FF2B5EF4-FFF2-40B4-BE49-F238E27FC236}">
                <a16:creationId xmlns:a16="http://schemas.microsoft.com/office/drawing/2014/main" id="{3DBE79F1-A95F-4644-87CD-836EB358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3333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Sets priority, owner and target date. The owner posts updates in the Issue.</a:t>
            </a:r>
          </a:p>
        </p:txBody>
      </p:sp>
      <p:sp>
        <p:nvSpPr>
          <p:cNvPr id="13" name="phase-3-label">
            <a:extLst xmlns:a="http://schemas.openxmlformats.org/drawingml/2006/main">
              <a:ext uri="{FF2B5EF4-FFF2-40B4-BE49-F238E27FC236}">
                <a16:creationId xmlns:a16="http://schemas.microsoft.com/office/drawing/2014/main" id="{D45059AD-D023-41BC-826E-68B48D86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955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t>3 — REUSE</a:t>
            </a:r>
          </a:p>
        </p:txBody>
      </p:sp>
      <p:sp>
        <p:nvSpPr>
          <p:cNvPr id="14" name="phase-3-title">
            <a:extLst xmlns:a="http://schemas.openxmlformats.org/drawingml/2006/main">
              <a:ext uri="{FF2B5EF4-FFF2-40B4-BE49-F238E27FC236}">
                <a16:creationId xmlns:a16="http://schemas.microsoft.com/office/drawing/2014/main" id="{C6D53E4C-DDA8-4100-8C59-EDFD7CD0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55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The team closes the loop</a:t>
            </a:r>
          </a:p>
        </p:txBody>
      </p:sp>
      <p:sp>
        <p:nvSpPr>
          <p:cNvPr id="15" name="phase-3-body">
            <a:extLst xmlns:a="http://schemas.openxmlformats.org/drawingml/2006/main">
              <a:ext uri="{FF2B5EF4-FFF2-40B4-BE49-F238E27FC236}">
                <a16:creationId xmlns:a16="http://schemas.microsoft.com/office/drawing/2014/main" id="{A7C22F32-32EE-4198-938B-B2E98E92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667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Marks Done. If the answer changes standard practice, the approved guidance is updated in Docs.</a:t>
            </a:r>
          </a:p>
        </p:txBody>
      </p:sp>
      <p:sp>
        <p:nvSpPr>
          <p:cNvPr id="16" name="source-7">
            <a:extLst xmlns:a="http://schemas.openxmlformats.org/drawingml/2006/main">
              <a:ext uri="{FF2B5EF4-FFF2-40B4-BE49-F238E27FC236}">
                <a16:creationId xmlns:a16="http://schemas.microsoft.com/office/drawing/2014/main" id="{E82A7526-C746-4973-989A-44F5A6A1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90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The Project board shows status throughout; the Issue keeps the complete record</a:t>
            </a:r>
          </a:p>
        </p:txBody>
      </p:sp>
      <p:sp>
        <p:nvSpPr>
          <p:cNvPr id="17" name="page-7">
            <a:extLst xmlns:a="http://schemas.openxmlformats.org/drawingml/2006/main">
              <a:ext uri="{FF2B5EF4-FFF2-40B4-BE49-F238E27FC236}">
                <a16:creationId xmlns:a16="http://schemas.microsoft.com/office/drawing/2014/main" id="{F376BE3F-3C36-4A2A-B81A-D23831F4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246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052053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8">
            <a:extLst xmlns:a="http://schemas.openxmlformats.org/drawingml/2006/main">
              <a:ext uri="{FF2B5EF4-FFF2-40B4-BE49-F238E27FC236}">
                <a16:creationId xmlns:a16="http://schemas.microsoft.com/office/drawing/2014/main" id="{428CDD0C-990C-4B5A-B851-346FE24B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t>ONE-TIME SETUP — WEB ONLY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DB47E87-7EF5-41B6-A8BF-2E2004BE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The administrator sets up a simple front door</a:t>
            </a:r>
          </a:p>
        </p:txBody>
      </p:sp>
      <p:sp>
        <p:nvSpPr>
          <p:cNvPr id="3" name="config-intro">
            <a:extLst xmlns:a="http://schemas.openxmlformats.org/drawingml/2006/main">
              <a:ext uri="{FF2B5EF4-FFF2-40B4-BE49-F238E27FC236}">
                <a16:creationId xmlns:a16="http://schemas.microsoft.com/office/drawing/2014/main" id="{38D1133A-9AF9-4135-A786-D90D4EFB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Users should see familiar TB language and only the options they need.</a:t>
            </a:r>
          </a:p>
        </p:txBody>
      </p:sp>
      <p:sp>
        <p:nvSpPr>
          <p:cNvPr id="4" name="config-docs-panel">
            <a:extLst xmlns:a="http://schemas.openxmlformats.org/drawingml/2006/main">
              <a:ext uri="{FF2B5EF4-FFF2-40B4-BE49-F238E27FC236}">
                <a16:creationId xmlns:a16="http://schemas.microsoft.com/office/drawing/2014/main" id="{B218C5A4-DCD5-44D2-BD21-35415F2C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42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fig-docs-title">
            <a:extLst xmlns:a="http://schemas.openxmlformats.org/drawingml/2006/main">
              <a:ext uri="{FF2B5EF4-FFF2-40B4-BE49-F238E27FC236}">
                <a16:creationId xmlns:a16="http://schemas.microsoft.com/office/drawing/2014/main" id="{3B68E2B9-D39A-4C21-9FB8-33F6E493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Docs website</a:t>
            </a:r>
          </a:p>
        </p:txBody>
      </p:sp>
      <p:sp>
        <p:nvSpPr>
          <p:cNvPr id="6" name="config-docs-body">
            <a:extLst xmlns:a="http://schemas.openxmlformats.org/drawingml/2006/main">
              <a:ext uri="{FF2B5EF4-FFF2-40B4-BE49-F238E27FC236}">
                <a16:creationId xmlns:a16="http://schemas.microsoft.com/office/drawing/2014/main" id="{08072BED-094F-4B18-9948-621DE816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49339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Publish indicator definitions, SOPs, calendars, templates and approved decisions. Add a visible “Submit a request” link.</a:t>
            </a:r>
          </a:p>
        </p:txBody>
      </p:sp>
      <p:sp>
        <p:nvSpPr>
          <p:cNvPr id="7" name="config-issues-panel">
            <a:extLst xmlns:a="http://schemas.openxmlformats.org/drawingml/2006/main">
              <a:ext uri="{FF2B5EF4-FFF2-40B4-BE49-F238E27FC236}">
                <a16:creationId xmlns:a16="http://schemas.microsoft.com/office/drawing/2014/main" id="{23096B33-3314-46AB-AC73-47395E52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542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fig-issues-title">
            <a:extLst xmlns:a="http://schemas.openxmlformats.org/drawingml/2006/main">
              <a:ext uri="{FF2B5EF4-FFF2-40B4-BE49-F238E27FC236}">
                <a16:creationId xmlns:a16="http://schemas.microsoft.com/office/drawing/2014/main" id="{9BE0DFC9-004E-4D06-B6E4-7964FB48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8600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Issue forms</a:t>
            </a:r>
          </a:p>
        </p:txBody>
      </p:sp>
      <p:sp>
        <p:nvSpPr>
          <p:cNvPr id="9" name="config-issues-body">
            <a:extLst xmlns:a="http://schemas.openxmlformats.org/drawingml/2006/main">
              <a:ext uri="{FF2B5EF4-FFF2-40B4-BE49-F238E27FC236}">
                <a16:creationId xmlns:a16="http://schemas.microsoft.com/office/drawing/2014/main" id="{BB33423D-E52D-49FF-9797-AC4DC7C9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43200"/>
            <a:ext cx="49339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Create two plain-language forms:
1. Request an update
2. Report a problem</a:t>
            </a:r>
          </a:p>
        </p:txBody>
      </p:sp>
      <p:sp>
        <p:nvSpPr>
          <p:cNvPr id="10" name="config-discussions-panel">
            <a:extLst xmlns:a="http://schemas.openxmlformats.org/drawingml/2006/main">
              <a:ext uri="{FF2B5EF4-FFF2-40B4-BE49-F238E27FC236}">
                <a16:creationId xmlns:a16="http://schemas.microsoft.com/office/drawing/2014/main" id="{0894533E-5927-4526-9B6C-23BB8231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542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nfig-discussions-title">
            <a:extLst xmlns:a="http://schemas.openxmlformats.org/drawingml/2006/main">
              <a:ext uri="{FF2B5EF4-FFF2-40B4-BE49-F238E27FC236}">
                <a16:creationId xmlns:a16="http://schemas.microsoft.com/office/drawing/2014/main" id="{60482D0B-75AD-46AC-B288-A58F2758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Discussion categories</a:t>
            </a:r>
          </a:p>
        </p:txBody>
      </p:sp>
      <p:sp>
        <p:nvSpPr>
          <p:cNvPr id="12" name="config-discussions-body">
            <a:extLst xmlns:a="http://schemas.openxmlformats.org/drawingml/2006/main">
              <a:ext uri="{FF2B5EF4-FFF2-40B4-BE49-F238E27FC236}">
                <a16:creationId xmlns:a16="http://schemas.microsoft.com/office/drawing/2014/main" id="{4D3C18C5-6AC1-4118-9791-AB23D7DD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49339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Use three categories:
Announcements • Q&amp;A • Ideas</a:t>
            </a:r>
          </a:p>
        </p:txBody>
      </p:sp>
      <p:sp>
        <p:nvSpPr>
          <p:cNvPr id="13" name="config-project-panel">
            <a:extLst xmlns:a="http://schemas.openxmlformats.org/drawingml/2006/main">
              <a:ext uri="{FF2B5EF4-FFF2-40B4-BE49-F238E27FC236}">
                <a16:creationId xmlns:a16="http://schemas.microsoft.com/office/drawing/2014/main" id="{0B8062F6-CE8A-4152-BA70-9072C9F4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542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nfig-project-title">
            <a:extLst xmlns:a="http://schemas.openxmlformats.org/drawingml/2006/main">
              <a:ext uri="{FF2B5EF4-FFF2-40B4-BE49-F238E27FC236}">
                <a16:creationId xmlns:a16="http://schemas.microsoft.com/office/drawing/2014/main" id="{6AA056A7-7379-45D7-82AA-4B2932FA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67200"/>
            <a:ext cx="493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Project fields and views</a:t>
            </a:r>
          </a:p>
        </p:txBody>
      </p:sp>
      <p:sp>
        <p:nvSpPr>
          <p:cNvPr id="15" name="config-project-body">
            <a:extLst xmlns:a="http://schemas.openxmlformats.org/drawingml/2006/main">
              <a:ext uri="{FF2B5EF4-FFF2-40B4-BE49-F238E27FC236}">
                <a16:creationId xmlns:a16="http://schemas.microsoft.com/office/drawing/2014/main" id="{337DAF0D-0E9A-4C1F-9628-C00E4660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24400"/>
            <a:ext cx="49339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Fields: Status • Priority • Owner • Target date
Views: My requests • Blocked • Leadership</a:t>
            </a:r>
          </a:p>
        </p:txBody>
      </p:sp>
      <p:sp>
        <p:nvSpPr>
          <p:cNvPr id="16" name="source-8">
            <a:extLst xmlns:a="http://schemas.openxmlformats.org/drawingml/2006/main">
              <a:ext uri="{FF2B5EF4-FFF2-40B4-BE49-F238E27FC236}">
                <a16:creationId xmlns:a16="http://schemas.microsoft.com/office/drawing/2014/main" id="{F7353A35-B312-4AA2-9BFE-96B7664C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90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TB recommendation based on GitHub’s native repository features</a:t>
            </a:r>
          </a:p>
        </p:txBody>
      </p:sp>
      <p:sp>
        <p:nvSpPr>
          <p:cNvPr id="17" name="page-8">
            <a:extLst xmlns:a="http://schemas.openxmlformats.org/drawingml/2006/main">
              <a:ext uri="{FF2B5EF4-FFF2-40B4-BE49-F238E27FC236}">
                <a16:creationId xmlns:a16="http://schemas.microsoft.com/office/drawing/2014/main" id="{9C9DBA84-C092-4E5F-8B41-945D2119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246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7203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9">
            <a:extLst xmlns:a="http://schemas.openxmlformats.org/drawingml/2006/main">
              <a:ext uri="{FF2B5EF4-FFF2-40B4-BE49-F238E27FC236}">
                <a16:creationId xmlns:a16="http://schemas.microsoft.com/office/drawing/2014/main" id="{682C2127-1F8B-49AD-A08D-4E06CE3E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t>HOW THE TB TEAM USES IT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AF6387C1-A644-4373-8D1D-B2932FFA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Each role has a small, repeatable routine</a:t>
            </a:r>
          </a:p>
        </p:txBody>
      </p:sp>
      <p:sp>
        <p:nvSpPr>
          <p:cNvPr id="3" name="maintainers-panel">
            <a:extLst xmlns:a="http://schemas.openxmlformats.org/drawingml/2006/main">
              <a:ext uri="{FF2B5EF4-FFF2-40B4-BE49-F238E27FC236}">
                <a16:creationId xmlns:a16="http://schemas.microsoft.com/office/drawing/2014/main" id="{F7ED2AE9-097A-4E64-8DC4-BD89CC6F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3476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aintainers-title">
            <a:extLst xmlns:a="http://schemas.openxmlformats.org/drawingml/2006/main">
              <a:ext uri="{FF2B5EF4-FFF2-40B4-BE49-F238E27FC236}">
                <a16:creationId xmlns:a16="http://schemas.microsoft.com/office/drawing/2014/main" id="{5B38FC17-C9FF-4779-9FA4-125644DE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9813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M&amp;E Officers</a:t>
            </a:r>
          </a:p>
        </p:txBody>
      </p:sp>
      <p:sp>
        <p:nvSpPr>
          <p:cNvPr id="5" name="maintainers-body">
            <a:extLst xmlns:a="http://schemas.openxmlformats.org/drawingml/2006/main">
              <a:ext uri="{FF2B5EF4-FFF2-40B4-BE49-F238E27FC236}">
                <a16:creationId xmlns:a16="http://schemas.microsoft.com/office/drawing/2014/main" id="{846E3EB6-929F-4E13-B264-1D24024E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981325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Search Docs first. Submit complete Issues, answer follow-up questions and check the board for progress.</a:t>
            </a:r>
          </a:p>
        </p:txBody>
      </p:sp>
      <p:sp>
        <p:nvSpPr>
          <p:cNvPr id="6" name="coordinators-panel">
            <a:extLst xmlns:a="http://schemas.openxmlformats.org/drawingml/2006/main">
              <a:ext uri="{FF2B5EF4-FFF2-40B4-BE49-F238E27FC236}">
                <a16:creationId xmlns:a16="http://schemas.microsoft.com/office/drawing/2014/main" id="{72D8983F-D701-4411-87F0-57DCFAB1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81200"/>
            <a:ext cx="3476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ordinators-title">
            <a:extLst xmlns:a="http://schemas.openxmlformats.org/drawingml/2006/main">
              <a:ext uri="{FF2B5EF4-FFF2-40B4-BE49-F238E27FC236}">
                <a16:creationId xmlns:a16="http://schemas.microsoft.com/office/drawing/2014/main" id="{2F2A1732-498D-4D8B-8C46-5768E0A2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90750"/>
            <a:ext cx="29813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TB Coordinators</a:t>
            </a:r>
          </a:p>
        </p:txBody>
      </p:sp>
      <p:sp>
        <p:nvSpPr>
          <p:cNvPr id="8" name="coordinators-body">
            <a:extLst xmlns:a="http://schemas.openxmlformats.org/drawingml/2006/main">
              <a:ext uri="{FF2B5EF4-FFF2-40B4-BE49-F238E27FC236}">
                <a16:creationId xmlns:a16="http://schemas.microsoft.com/office/drawing/2014/main" id="{3A5BA02C-6222-4E4D-B105-09C099BB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47950"/>
            <a:ext cx="2981325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Review new Issues, set priority and owner, answer Discussions and publish approved guidance in Docs.</a:t>
            </a:r>
          </a:p>
        </p:txBody>
      </p:sp>
      <p:sp>
        <p:nvSpPr>
          <p:cNvPr id="9" name="me-users-panel">
            <a:extLst xmlns:a="http://schemas.openxmlformats.org/drawingml/2006/main">
              <a:ext uri="{FF2B5EF4-FFF2-40B4-BE49-F238E27FC236}">
                <a16:creationId xmlns:a16="http://schemas.microsoft.com/office/drawing/2014/main" id="{B570D321-B260-4670-B630-BA1043DE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81200"/>
            <a:ext cx="3476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-users-title">
            <a:extLst xmlns:a="http://schemas.openxmlformats.org/drawingml/2006/main">
              <a:ext uri="{FF2B5EF4-FFF2-40B4-BE49-F238E27FC236}">
                <a16:creationId xmlns:a16="http://schemas.microsoft.com/office/drawing/2014/main" id="{A4BD8256-D3E4-4A26-90D6-BCFC5D49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29813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Programme Leadership</a:t>
            </a:r>
          </a:p>
        </p:txBody>
      </p:sp>
      <p:sp>
        <p:nvSpPr>
          <p:cNvPr id="11" name="me-users-body">
            <a:extLst xmlns:a="http://schemas.openxmlformats.org/drawingml/2006/main">
              <a:ext uri="{FF2B5EF4-FFF2-40B4-BE49-F238E27FC236}">
                <a16:creationId xmlns:a16="http://schemas.microsoft.com/office/drawing/2014/main" id="{9DFB260F-96B3-487C-AA0B-5DDDC700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47950"/>
            <a:ext cx="2981325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filtered board to review high-priority, overdue and blocked work—and make the decisions requested.</a:t>
            </a:r>
          </a:p>
        </p:txBody>
      </p:sp>
      <p:sp>
        <p:nvSpPr>
          <p:cNvPr id="12" name="rhythm-band">
            <a:extLst xmlns:a="http://schemas.openxmlformats.org/drawingml/2006/main">
              <a:ext uri="{FF2B5EF4-FFF2-40B4-BE49-F238E27FC236}">
                <a16:creationId xmlns:a16="http://schemas.microsoft.com/office/drawing/2014/main" id="{3FC17A65-71D1-42C6-8D0D-945DCC53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1382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eekly-label">
            <a:extLst xmlns:a="http://schemas.openxmlformats.org/drawingml/2006/main">
              <a:ext uri="{FF2B5EF4-FFF2-40B4-BE49-F238E27FC236}">
                <a16:creationId xmlns:a16="http://schemas.microsoft.com/office/drawing/2014/main" id="{B5CE2C76-945A-44F1-8051-1DF76FB2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t>Weekly</a:t>
            </a:r>
          </a:p>
        </p:txBody>
      </p:sp>
      <p:sp>
        <p:nvSpPr>
          <p:cNvPr id="14" name="weekly-body">
            <a:extLst xmlns:a="http://schemas.openxmlformats.org/drawingml/2006/main">
              <a:ext uri="{FF2B5EF4-FFF2-40B4-BE49-F238E27FC236}">
                <a16:creationId xmlns:a16="http://schemas.microsoft.com/office/drawing/2014/main" id="{21750D6D-D312-4CBE-AEE6-54ACEE7F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29200"/>
            <a:ext cx="9696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M&amp;E checks assigned requests. Coordinators review New and Blocked items. Leadership reviews only priorities, overdue work and decisions needed.</a:t>
            </a:r>
          </a:p>
        </p:txBody>
      </p:sp>
      <p:sp>
        <p:nvSpPr>
          <p:cNvPr id="15" name="source-9">
            <a:extLst xmlns:a="http://schemas.openxmlformats.org/drawingml/2006/main">
              <a:ext uri="{FF2B5EF4-FFF2-40B4-BE49-F238E27FC236}">
                <a16:creationId xmlns:a16="http://schemas.microsoft.com/office/drawing/2014/main" id="{F03C2AC3-C061-405F-92A8-A4E5500C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90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A maintainer handles access, forms and board settings behind the scenes</a:t>
            </a:r>
          </a:p>
        </p:txBody>
      </p:sp>
      <p:sp>
        <p:nvSpPr>
          <p:cNvPr id="16" name="page-9">
            <a:extLst xmlns:a="http://schemas.openxmlformats.org/drawingml/2006/main">
              <a:ext uri="{FF2B5EF4-FFF2-40B4-BE49-F238E27FC236}">
                <a16:creationId xmlns:a16="http://schemas.microsoft.com/office/drawing/2014/main" id="{CBE8E40E-BAB0-426A-B4D7-2B44F5EF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246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80651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aunch-eyebrow">
            <a:extLst xmlns:a="http://schemas.openxmlformats.org/drawingml/2006/main">
              <a:ext uri="{FF2B5EF4-FFF2-40B4-BE49-F238E27FC236}">
                <a16:creationId xmlns:a16="http://schemas.microsoft.com/office/drawing/2014/main" id="{28B66346-3FBF-46F6-B7A3-8443F1D3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t>TB OPERATIONS HUB</a:t>
            </a:r>
          </a:p>
        </p:txBody>
      </p:sp>
      <p:sp>
        <p:nvSpPr>
          <p:cNvPr id="2" name="launch-title">
            <a:extLst xmlns:a="http://schemas.openxmlformats.org/drawingml/2006/main">
              <a:ext uri="{FF2B5EF4-FFF2-40B4-BE49-F238E27FC236}">
                <a16:creationId xmlns:a16="http://schemas.microsoft.com/office/drawing/2014/main" id="{59DA57F2-5803-441A-B6FE-FA359764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5810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Practise with two
real TB scenarios</a:t>
            </a:r>
          </a:p>
        </p:txBody>
      </p:sp>
      <p:sp>
        <p:nvSpPr>
          <p:cNvPr id="3" name="launch-subtitle">
            <a:extLst xmlns:a="http://schemas.openxmlformats.org/drawingml/2006/main">
              <a:ext uri="{FF2B5EF4-FFF2-40B4-BE49-F238E27FC236}">
                <a16:creationId xmlns:a16="http://schemas.microsoft.com/office/drawing/2014/main" id="{98E5D3D9-1BFF-422C-AE71-4D962EF5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238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A short guided exercise will make the workflow feel familiar before the wider rollout.</a:t>
            </a:r>
          </a:p>
        </p:txBody>
      </p:sp>
      <p:sp>
        <p:nvSpPr>
          <p:cNvPr id="4" name="launch-panel">
            <a:extLst xmlns:a="http://schemas.openxmlformats.org/drawingml/2006/main">
              <a:ext uri="{FF2B5EF4-FFF2-40B4-BE49-F238E27FC236}">
                <a16:creationId xmlns:a16="http://schemas.microsoft.com/office/drawing/2014/main" id="{3C494F06-0AF0-40F8-A755-74FE12DF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57250"/>
            <a:ext cx="51244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unch-checklist-title">
            <a:extLst xmlns:a="http://schemas.openxmlformats.org/drawingml/2006/main">
              <a:ext uri="{FF2B5EF4-FFF2-40B4-BE49-F238E27FC236}">
                <a16:creationId xmlns:a16="http://schemas.microsoft.com/office/drawing/2014/main" id="{30B84CC6-79FA-488A-A2B4-E37A2700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20015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Two practice scenarios</a:t>
            </a:r>
          </a:p>
        </p:txBody>
      </p:sp>
      <p:sp>
        <p:nvSpPr>
          <p:cNvPr id="6" name="launch-checklist-body">
            <a:extLst xmlns:a="http://schemas.openxmlformats.org/drawingml/2006/main">
              <a:ext uri="{FF2B5EF4-FFF2-40B4-BE49-F238E27FC236}">
                <a16:creationId xmlns:a16="http://schemas.microsoft.com/office/drawing/2014/main" id="{BCFC5DC7-A849-4FAC-A549-4FD36EC7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42672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4F7FA"/>
                </a:solidFill>
                <a:latin typeface="Helvetica Neue"/>
                <a:ea typeface="Helvetica Neue"/>
                <a:cs typeface="Helvetica Neue"/>
              </a:defRPr>
            </a:pPr>
            <a:r>
              <a:t>1 — Reporting guidance
Find an indicator definition in Docs, then ask one unresolved reporting question in Discussions.
2 — Data-quality problem
Submit a sample Issue without confidential data. Find it on the board, add a comment and confirm the next owner.
Then repeat with one real, low-risk request.</a:t>
            </a:r>
          </a:p>
        </p:txBody>
      </p:sp>
      <p:sp>
        <p:nvSpPr>
          <p:cNvPr id="7" name="launch-outcome">
            <a:extLst xmlns:a="http://schemas.openxmlformats.org/drawingml/2006/main">
              <a:ext uri="{FF2B5EF4-FFF2-40B4-BE49-F238E27FC236}">
                <a16:creationId xmlns:a16="http://schemas.microsoft.com/office/drawing/2014/main" id="{4BEDEF35-F988-40FF-B182-37327ABF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5429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D399"/>
                </a:solidFill>
                <a:latin typeface="Helvetica Neue"/>
                <a:ea typeface="Helvetica Neue"/>
                <a:cs typeface="Helvetica Neue"/>
              </a:defRPr>
            </a:pPr>
            <a:r>
              <a:t>Success means users can choose the right tool without asking an administrator.</a:t>
            </a:r>
          </a:p>
        </p:txBody>
      </p:sp>
      <p:sp>
        <p:nvSpPr>
          <p:cNvPr id="8" name="source-10">
            <a:extLst xmlns:a="http://schemas.openxmlformats.org/drawingml/2006/main">
              <a:ext uri="{FF2B5EF4-FFF2-40B4-BE49-F238E27FC236}">
                <a16:creationId xmlns:a16="http://schemas.microsoft.com/office/drawing/2014/main" id="{D84E08D8-E007-42BD-9B8E-C7C78298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990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Prepared for TB Management, Executive and M&amp;E users • GitHub web interface</a:t>
            </a:r>
          </a:p>
        </p:txBody>
      </p:sp>
      <p:sp>
        <p:nvSpPr>
          <p:cNvPr id="9" name="page-10">
            <a:extLst xmlns:a="http://schemas.openxmlformats.org/drawingml/2006/main">
              <a:ext uri="{FF2B5EF4-FFF2-40B4-BE49-F238E27FC236}">
                <a16:creationId xmlns:a16="http://schemas.microsoft.com/office/drawing/2014/main" id="{4C317384-AE6B-4BBF-A2A1-13AE427A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246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B8C9C1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6170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2026-07-17T06:56:59.2310000Z</dcterms:created>
  <dcterms:modified xsi:type="dcterms:W3CDTF">2026-07-17T06:56:59.2310000Z</dcterms:modified>
</coreProperties>
</file>